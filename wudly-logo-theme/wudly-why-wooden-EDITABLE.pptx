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GOOD TO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72390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00" b="0">
                <a:solidFill>
                  <a:srgbClr val="461E18"/>
                </a:solidFill>
                <a:latin typeface="Fredoka"/>
              </a:rPr>
              <a:t>Why wooden</a:t>
            </a:r>
          </a:p>
          <a:p>
            <a:pPr algn="l"/>
            <a:r>
              <a:rPr sz="8100" b="0">
                <a:solidFill>
                  <a:srgbClr val="461E18"/>
                </a:solidFill>
                <a:latin typeface="Fredoka"/>
              </a:rPr>
              <a:t>toys?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953000"/>
            <a:ext cx="2476500" cy="185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572125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462C20"/>
                </a:solidFill>
                <a:latin typeface="Hanken Grotesk"/>
              </a:rPr>
              <a:t>5 reasons parents love them</a:t>
            </a:r>
          </a:p>
        </p:txBody>
      </p:sp>
      <p:pic>
        <p:nvPicPr>
          <p:cNvPr id="9" name="Picture 8" descr="domi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656" y="6238875"/>
            <a:ext cx="3405187" cy="31432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9600" y="9620250"/>
            <a:ext cx="2190750" cy="800100"/>
          </a:xfrm>
          <a:prstGeom prst="roundRect">
            <a:avLst>
              <a:gd name="adj" fmla="val 50000"/>
            </a:avLst>
          </a:prstGeom>
          <a:solidFill>
            <a:srgbClr val="DE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2550">
                <a:solidFill>
                  <a:srgbClr val="FFFAF0"/>
                </a:solidFill>
                <a:latin typeface="Hanken Grotesk"/>
              </a:rPr>
              <a:t>Swipe  →</a:t>
            </a:r>
          </a:p>
        </p:txBody>
      </p:sp>
      <p:pic>
        <p:nvPicPr>
          <p:cNvPr id="11" name="Picture 10" descr="masc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516" y="5810250"/>
            <a:ext cx="3367467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REASON 1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9144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0">
                <a:solidFill>
                  <a:srgbClr val="461E18"/>
                </a:solidFill>
                <a:latin typeface="Fredoka"/>
              </a:rPr>
              <a:t>Made to last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857625"/>
            <a:ext cx="2743200" cy="205740"/>
          </a:xfrm>
          <a:prstGeom prst="rect">
            <a:avLst/>
          </a:prstGeom>
        </p:spPr>
      </p:pic>
      <p:pic>
        <p:nvPicPr>
          <p:cNvPr id="8" name="Picture 7" descr="memory_ch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90675"/>
            <a:ext cx="4191000" cy="33631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2125" y="4762500"/>
            <a:ext cx="40957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462C20"/>
                </a:solidFill>
                <a:latin typeface="Hanken Grotesk"/>
              </a:rPr>
              <a:t>Sturdy wood takes years of drops, stacking and play, so toys can be passed on to siblings.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5" y="6762750"/>
            <a:ext cx="409575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Handles everyday play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Can be passed down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Fewer replacements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04875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0">
                <a:solidFill>
                  <a:srgbClr val="96603C"/>
                </a:solidFill>
                <a:latin typeface="Fredoka"/>
              </a:rPr>
              <a:t>Parent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0"/>
            <a:ext cx="90487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75" b="1">
                <a:solidFill>
                  <a:srgbClr val="462C20"/>
                </a:solidFill>
                <a:latin typeface="Hanken Grotesk"/>
              </a:rPr>
              <a:t>Rotate a few wooden toys each week so they always feel new.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REASON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9144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0">
                <a:solidFill>
                  <a:srgbClr val="461E18"/>
                </a:solidFill>
                <a:latin typeface="Fredoka"/>
              </a:rPr>
              <a:t>A natural feel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857625"/>
            <a:ext cx="3200400" cy="240030"/>
          </a:xfrm>
          <a:prstGeom prst="rect">
            <a:avLst/>
          </a:prstGeom>
        </p:spPr>
      </p:pic>
      <p:pic>
        <p:nvPicPr>
          <p:cNvPr id="8" name="Picture 7" descr="rat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4762500"/>
            <a:ext cx="38608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2125" y="4762500"/>
            <a:ext cx="40957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462C20"/>
                </a:solidFill>
                <a:latin typeface="Hanken Grotesk"/>
              </a:rPr>
              <a:t>Wood has real weight, texture and warmth that little hands can feel and explore.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5" y="6762750"/>
            <a:ext cx="409575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Real weight to hold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Smooth, warm texture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Natural tapping sounds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04875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0">
                <a:solidFill>
                  <a:srgbClr val="96603C"/>
                </a:solidFill>
                <a:latin typeface="Fredoka"/>
              </a:rPr>
              <a:t>Parent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0"/>
            <a:ext cx="6096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75" b="1">
                <a:solidFill>
                  <a:srgbClr val="462C20"/>
                </a:solidFill>
                <a:latin typeface="Hanken Grotesk"/>
              </a:rPr>
              <a:t>Notice the texture and sounds of wood together: tap, roll, stack.</a:t>
            </a:r>
          </a:p>
        </p:txBody>
      </p:sp>
      <p:pic>
        <p:nvPicPr>
          <p:cNvPr id="13" name="Picture 12" descr="masc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024" y="8477250"/>
            <a:ext cx="18942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REASON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9144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>
                <a:solidFill>
                  <a:srgbClr val="461E18"/>
                </a:solidFill>
                <a:latin typeface="Fredoka"/>
              </a:rPr>
              <a:t>Open-ended play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3857625"/>
            <a:ext cx="3429000" cy="257175"/>
          </a:xfrm>
          <a:prstGeom prst="rect">
            <a:avLst/>
          </a:prstGeom>
        </p:spPr>
      </p:pic>
      <p:pic>
        <p:nvPicPr>
          <p:cNvPr id="8" name="Picture 7" descr="spinning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234878"/>
            <a:ext cx="4191000" cy="26747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2125" y="4762500"/>
            <a:ext cx="40957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462C20"/>
                </a:solidFill>
                <a:latin typeface="Hanken Grotesk"/>
              </a:rPr>
              <a:t>A block can be a phone, a car or a tower. Simple toys let children invent the game.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5" y="6762750"/>
            <a:ext cx="409575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One toy, many games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Builds imagination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Grows with your child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04875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0">
                <a:solidFill>
                  <a:srgbClr val="96603C"/>
                </a:solidFill>
                <a:latin typeface="Fredoka"/>
              </a:rPr>
              <a:t>Parent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0"/>
            <a:ext cx="90487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75" b="1">
                <a:solidFill>
                  <a:srgbClr val="462C20"/>
                </a:solidFill>
                <a:latin typeface="Hanken Grotesk"/>
              </a:rPr>
              <a:t>Ask "What else could this be?" and let your child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REASON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9144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>
                <a:solidFill>
                  <a:srgbClr val="461E18"/>
                </a:solidFill>
                <a:latin typeface="Fredoka"/>
              </a:rPr>
              <a:t>Calm, screen-free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3857625"/>
            <a:ext cx="3886200" cy="291465"/>
          </a:xfrm>
          <a:prstGeom prst="rect">
            <a:avLst/>
          </a:prstGeom>
        </p:spPr>
      </p:pic>
      <p:pic>
        <p:nvPicPr>
          <p:cNvPr id="8" name="Picture 7" descr="eas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7" y="4762500"/>
            <a:ext cx="3664185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2125" y="4762500"/>
            <a:ext cx="40957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462C20"/>
                </a:solidFill>
                <a:latin typeface="Hanken Grotesk"/>
              </a:rPr>
              <a:t>No batteries, lights or sounds. The child makes the play happen, at their own 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5" y="6762750"/>
            <a:ext cx="409575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No flashing lights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Longer focus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Child leads the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04875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0">
                <a:solidFill>
                  <a:srgbClr val="96603C"/>
                </a:solidFill>
                <a:latin typeface="Fredoka"/>
              </a:rPr>
              <a:t>Parent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0"/>
            <a:ext cx="90487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75" b="1">
                <a:solidFill>
                  <a:srgbClr val="462C20"/>
                </a:solidFill>
                <a:latin typeface="Hanken Grotesk"/>
              </a:rPr>
              <a:t>Keep one screen-free play hour every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REASON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9144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>
                <a:solidFill>
                  <a:srgbClr val="461E18"/>
                </a:solidFill>
                <a:latin typeface="Fredoka"/>
              </a:rPr>
              <a:t>Easy to care for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857625"/>
            <a:ext cx="3657600" cy="274320"/>
          </a:xfrm>
          <a:prstGeom prst="rect">
            <a:avLst/>
          </a:prstGeom>
        </p:spPr>
      </p:pic>
      <p:pic>
        <p:nvPicPr>
          <p:cNvPr id="8" name="Picture 7" descr="knob_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134161"/>
            <a:ext cx="4191000" cy="2876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2125" y="4762500"/>
            <a:ext cx="40957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462C20"/>
                </a:solidFill>
                <a:latin typeface="Hanken Grotesk"/>
              </a:rPr>
              <a:t>Wipe with a slightly damp cloth and let it air dry. No charging, no batteries.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5" y="6762750"/>
            <a:ext cx="409575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Wipe, don't soak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Air dry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461E18"/>
                </a:solidFill>
                <a:latin typeface="Hanken Grotesk"/>
              </a:rPr>
              <a:t>✓  No batteries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04875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0">
                <a:solidFill>
                  <a:srgbClr val="96603C"/>
                </a:solidFill>
                <a:latin typeface="Fredoka"/>
              </a:rPr>
              <a:t>Parent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0"/>
            <a:ext cx="90487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75" b="1">
                <a:solidFill>
                  <a:srgbClr val="462C20"/>
                </a:solidFill>
                <a:latin typeface="Hanken Grotesk"/>
              </a:rPr>
              <a:t>Avoid soaking wooden toys in water.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QUICK 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9144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b="0">
                <a:solidFill>
                  <a:srgbClr val="461E18"/>
                </a:solidFill>
                <a:latin typeface="Fredoka"/>
              </a:rPr>
              <a:t>Wooden vs plastic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810000"/>
            <a:ext cx="3619500" cy="27146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4286250"/>
          <a:ext cx="9067800" cy="542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6750"/>
                <a:gridCol w="2381250"/>
                <a:gridCol w="2209800"/>
              </a:tblGrid>
              <a:tr h="904875">
                <a:tc>
                  <a:txBody>
                    <a:bodyPr/>
                    <a:lstStyle/>
                    <a:p>
                      <a:pPr algn="l"/>
                      <a:r>
                        <a:rPr b="1" sz="2700">
                          <a:solidFill>
                            <a:srgbClr val="461E18"/>
                          </a:solidFill>
                          <a:latin typeface="Fredoka"/>
                        </a:rPr>
                        <a:t/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700">
                          <a:solidFill>
                            <a:srgbClr val="3C8C5A"/>
                          </a:solidFill>
                          <a:latin typeface="Fredoka"/>
                        </a:rPr>
                        <a:t>Wooden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700">
                          <a:solidFill>
                            <a:srgbClr val="967868"/>
                          </a:solidFill>
                          <a:latin typeface="Fredoka"/>
                        </a:rPr>
                        <a:t>Plastic*</a:t>
                      </a:r>
                    </a:p>
                  </a:txBody>
                  <a:tcPr anchor="ctr"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b="1" sz="2325">
                          <a:solidFill>
                            <a:srgbClr val="461E18"/>
                          </a:solidFill>
                          <a:latin typeface="Hanken Grotesk"/>
                        </a:rPr>
                        <a:t>Feel in the hand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3C8C5A"/>
                          </a:solidFill>
                          <a:latin typeface="Hanken Grotesk"/>
                        </a:rPr>
                        <a:t>Warm, weighty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967868"/>
                          </a:solidFill>
                          <a:latin typeface="Hanken Grotesk"/>
                        </a:rPr>
                        <a:t>Light</a:t>
                      </a:r>
                    </a:p>
                  </a:txBody>
                  <a:tcPr anchor="ctr"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b="1" sz="2325">
                          <a:solidFill>
                            <a:srgbClr val="461E18"/>
                          </a:solidFill>
                          <a:latin typeface="Hanken Grotesk"/>
                        </a:rPr>
                        <a:t>Batteries &amp; sounds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3C8C5A"/>
                          </a:solidFill>
                          <a:latin typeface="Hanken Grotesk"/>
                        </a:rPr>
                        <a:t>None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967868"/>
                          </a:solidFill>
                          <a:latin typeface="Hanken Grotesk"/>
                        </a:rPr>
                        <a:t>Often</a:t>
                      </a:r>
                    </a:p>
                  </a:txBody>
                  <a:tcPr anchor="ctr"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b="1" sz="2325">
                          <a:solidFill>
                            <a:srgbClr val="461E18"/>
                          </a:solidFill>
                          <a:latin typeface="Hanken Grotesk"/>
                        </a:rPr>
                        <a:t>Play style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3C8C5A"/>
                          </a:solidFill>
                          <a:latin typeface="Hanken Grotesk"/>
                        </a:rPr>
                        <a:t>Child-led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967868"/>
                          </a:solidFill>
                          <a:latin typeface="Hanken Grotesk"/>
                        </a:rPr>
                        <a:t>Toy-led</a:t>
                      </a:r>
                    </a:p>
                  </a:txBody>
                  <a:tcPr anchor="ctr"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b="1" sz="2325">
                          <a:solidFill>
                            <a:srgbClr val="461E18"/>
                          </a:solidFill>
                          <a:latin typeface="Hanken Grotesk"/>
                        </a:rPr>
                        <a:t>How long it lasts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3C8C5A"/>
                          </a:solidFill>
                          <a:latin typeface="Hanken Grotesk"/>
                        </a:rPr>
                        <a:t>Years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967868"/>
                          </a:solidFill>
                          <a:latin typeface="Hanken Grotesk"/>
                        </a:rPr>
                        <a:t>Varies</a:t>
                      </a:r>
                    </a:p>
                  </a:txBody>
                  <a:tcPr anchor="ctr"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b="1" sz="2325">
                          <a:solidFill>
                            <a:srgbClr val="461E18"/>
                          </a:solidFill>
                          <a:latin typeface="Hanken Grotesk"/>
                        </a:rPr>
                        <a:t>Care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3C8C5A"/>
                          </a:solidFill>
                          <a:latin typeface="Hanken Grotesk"/>
                        </a:rPr>
                        <a:t>Wipe clean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325">
                          <a:solidFill>
                            <a:srgbClr val="967868"/>
                          </a:solidFill>
                          <a:latin typeface="Hanken Grotesk"/>
                        </a:rPr>
                        <a:t>Wipe clean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10001250"/>
            <a:ext cx="9144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67868"/>
                </a:solidFill>
                <a:latin typeface="Hanken Grotesk"/>
              </a:rPr>
              <a:t>*many plastic toys. A general guide, so check each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81000"/>
            <a:ext cx="2286000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1158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1">
                <a:solidFill>
                  <a:srgbClr val="967868"/>
                </a:solidFill>
                <a:latin typeface="Hanken Grotesk"/>
              </a:rPr>
              <a:t>@wudly_toys  ·  wudlytoys.com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0" y="121158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25" b="1">
                <a:solidFill>
                  <a:srgbClr val="967868"/>
                </a:solidFill>
                <a:latin typeface="Hanken Grotesk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96603C"/>
                </a:solidFill>
                <a:latin typeface="Hanken Grotesk"/>
              </a:rPr>
              <a:t>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8572500" cy="2190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0">
                <a:solidFill>
                  <a:srgbClr val="461E18"/>
                </a:solidFill>
                <a:latin typeface="Fredoka"/>
              </a:rPr>
              <a:t>Save this for</a:t>
            </a:r>
          </a:p>
          <a:p>
            <a:pPr algn="l"/>
            <a:r>
              <a:rPr sz="7200" b="0">
                <a:solidFill>
                  <a:srgbClr val="461E18"/>
                </a:solidFill>
                <a:latin typeface="Fredoka"/>
              </a:rPr>
              <a:t>your next toy</a:t>
            </a:r>
          </a:p>
        </p:txBody>
      </p:sp>
      <p:pic>
        <p:nvPicPr>
          <p:cNvPr id="7" name="Picture 6" descr="swo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0" y="4810125"/>
            <a:ext cx="3143250" cy="235743"/>
          </a:xfrm>
          <a:prstGeom prst="rect">
            <a:avLst/>
          </a:prstGeom>
        </p:spPr>
      </p:pic>
      <p:pic>
        <p:nvPicPr>
          <p:cNvPr id="8" name="Picture 7" descr="gard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5883809"/>
            <a:ext cx="1905000" cy="1376881"/>
          </a:xfrm>
          <a:prstGeom prst="rect">
            <a:avLst/>
          </a:prstGeom>
        </p:spPr>
      </p:pic>
      <p:pic>
        <p:nvPicPr>
          <p:cNvPr id="9" name="Picture 8" descr="teet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5730990"/>
            <a:ext cx="1905000" cy="1682518"/>
          </a:xfrm>
          <a:prstGeom prst="rect">
            <a:avLst/>
          </a:prstGeom>
        </p:spPr>
      </p:pic>
      <p:pic>
        <p:nvPicPr>
          <p:cNvPr id="10" name="Picture 9" descr="tan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5676000"/>
            <a:ext cx="1905000" cy="17925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9600" y="8191500"/>
            <a:ext cx="5334000" cy="914400"/>
          </a:xfrm>
          <a:prstGeom prst="roundRect">
            <a:avLst>
              <a:gd name="adj" fmla="val 50000"/>
            </a:avLst>
          </a:prstGeom>
          <a:solidFill>
            <a:srgbClr val="DE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2850">
                <a:solidFill>
                  <a:srgbClr val="FFFAF0"/>
                </a:solidFill>
                <a:latin typeface="Hanken Grotesk"/>
              </a:rPr>
              <a:t>Shop at wudlytoys.com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75" b="1">
                <a:solidFill>
                  <a:srgbClr val="462C20"/>
                </a:solidFill>
                <a:latin typeface="Hanken Grotesk"/>
              </a:rPr>
              <a:t>Shop by age  ·  Free shipping over Rs.999</a:t>
            </a:r>
          </a:p>
        </p:txBody>
      </p:sp>
      <p:pic>
        <p:nvPicPr>
          <p:cNvPr id="13" name="Picture 12" descr="masc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733" y="6572250"/>
            <a:ext cx="2946533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